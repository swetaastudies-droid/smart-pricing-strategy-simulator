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-677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0704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latin typeface="Aptos Display"/>
              </a:defRPr>
            </a:pPr>
            <a:r>
              <a:t>SMART PRICING STRATEGY</a:t>
            </a:r>
            <a:br/>
            <a:r>
              <a:t>SIMULATOR FOR STARTUPS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971800"/>
            <a:ext cx="9601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/>
            </a:pPr>
            <a:r>
              <a:t>Case Startup: BizPilot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657600"/>
            <a:ext cx="98755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/>
            </a:pPr>
            <a:r>
              <a:t>A data-driven simulation platform for evaluating pricing, customer economics and profitability scenarios.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2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89920" y="6565392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 Display"/>
              </a:defRPr>
            </a:pPr>
            <a:r>
              <a:t>1. 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latin typeface="Aptos"/>
              </a:defRPr>
            </a:pPr>
            <a:r>
              <a:t>• Purpose: help startups experiment with alternative pricing strategies before real-world testing.</a:t>
            </a:r>
          </a:p>
          <a:p>
            <a:pPr>
              <a:spcAft>
                <a:spcPts val="1200"/>
              </a:spcAft>
              <a:defRPr sz="1800">
                <a:latin typeface="Aptos"/>
              </a:defRPr>
            </a:pPr>
            <a:r>
              <a:t>• Case startup: BizPilot AI, a hypothetical AI-powered SaaS platform for small businesses and startups.</a:t>
            </a:r>
          </a:p>
          <a:p>
            <a:pPr>
              <a:spcAft>
                <a:spcPts val="1200"/>
              </a:spcAft>
              <a:defRPr sz="1800">
                <a:latin typeface="Aptos"/>
              </a:defRPr>
            </a:pPr>
            <a:r>
              <a:t>• Core approach: synthetic customer data + segmentation + pricing simulation + AI/ML + unit economics.</a:t>
            </a:r>
          </a:p>
          <a:p>
            <a:pPr>
              <a:spcAft>
                <a:spcPts val="1200"/>
              </a:spcAft>
              <a:defRPr sz="1800">
                <a:latin typeface="Aptos"/>
              </a:defRPr>
            </a:pPr>
            <a:r>
              <a:t>• Interactive Streamlit dashboard enables users to change pricing and business assumptions.</a:t>
            </a:r>
          </a:p>
          <a:p>
            <a:pPr>
              <a:spcAft>
                <a:spcPts val="1200"/>
              </a:spcAft>
              <a:defRPr sz="1800">
                <a:latin typeface="Aptos"/>
              </a:defRPr>
            </a:pPr>
            <a:r>
              <a:t>• All customer, demand, cost and financial figures are simulation assumptions, not actual business data.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2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89920" y="6565392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 Display"/>
              </a:defRPr>
            </a:pPr>
            <a:r>
              <a:t>2. Objectives &amp;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latin typeface="Aptos"/>
              </a:defRPr>
            </a:pPr>
            <a:r>
              <a:t>• Generate a structured synthetic customer dataset and analyse willingness to pay and churn.</a:t>
            </a:r>
          </a:p>
          <a:p>
            <a:pPr>
              <a:spcAft>
                <a:spcPts val="1200"/>
              </a:spcAft>
              <a:defRPr sz="1700">
                <a:latin typeface="Aptos"/>
              </a:defRPr>
            </a:pPr>
            <a:r>
              <a:t>• Segment customers using K-Means clustering.</a:t>
            </a:r>
          </a:p>
          <a:p>
            <a:pPr>
              <a:spcAft>
                <a:spcPts val="1200"/>
              </a:spcAft>
              <a:defRPr sz="1700">
                <a:latin typeface="Aptos"/>
              </a:defRPr>
            </a:pPr>
            <a:r>
              <a:t>• Test at least five pricing scenarios and evaluate revenue, contribution and estimated profit.</a:t>
            </a:r>
          </a:p>
          <a:p>
            <a:pPr>
              <a:spcAft>
                <a:spcPts val="1200"/>
              </a:spcAft>
              <a:defRPr sz="1700">
                <a:latin typeface="Aptos"/>
              </a:defRPr>
            </a:pPr>
            <a:r>
              <a:t>• Calculate CAC, LTV, LTV:CAC and CAC payback to assess customer acquisition economics.</a:t>
            </a:r>
          </a:p>
          <a:p>
            <a:pPr>
              <a:spcAft>
                <a:spcPts val="1200"/>
              </a:spcAft>
              <a:defRPr sz="1700">
                <a:latin typeface="Aptos"/>
              </a:defRPr>
            </a:pPr>
            <a:r>
              <a:t>• Use Linear Regression as an additional pricing-analysis support model.</a:t>
            </a:r>
          </a:p>
          <a:p>
            <a:pPr>
              <a:spcAft>
                <a:spcPts val="1200"/>
              </a:spcAft>
              <a:defRPr sz="1700">
                <a:latin typeface="Aptos"/>
              </a:defRPr>
            </a:pPr>
            <a:r>
              <a:t>• Provide an interactive Streamlit interface for scenario experimentation.</a:t>
            </a:r>
          </a:p>
          <a:p>
            <a:pPr>
              <a:spcAft>
                <a:spcPts val="1200"/>
              </a:spcAft>
              <a:defRPr sz="1700">
                <a:latin typeface="Aptos"/>
              </a:defRPr>
            </a:pPr>
            <a:r>
              <a:t>• Use external SaaS pricing references only as contextual benchmarks.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2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89920" y="6565392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 Display"/>
              </a:defRPr>
            </a:pPr>
            <a:r>
              <a:t>3. Methodology &amp; Project Workflow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1895475"/>
            <a:ext cx="10424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latin typeface="Aptos"/>
              </a:defRPr>
            </a:pPr>
            <a:r>
              <a:t>• The workflow moves from customer behaviour to pricing economics and finally to an interactive decision-support tool.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2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789920" y="6565392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 Display"/>
              </a:defRPr>
            </a:pPr>
            <a:r>
              <a:t>4. Customer Data &amp; Segmentation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05A69"/>
                </a:solidFill>
                <a:latin typeface="Aptos"/>
              </a:defRPr>
            </a:pPr>
            <a:r>
              <a:t>Synthetic dataset: 1,000 customers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508760"/>
          <a:ext cx="1069848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620"/>
                <a:gridCol w="2674620"/>
                <a:gridCol w="2674620"/>
                <a:gridCol w="2674620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latin typeface="Aptos"/>
                        </a:defRPr>
                      </a:pPr>
                      <a:r>
                        <a:t>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latin typeface="Aptos"/>
                        </a:defRPr>
                      </a:pPr>
                      <a:r>
                        <a:t>Customers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latin typeface="Aptos"/>
                        </a:defRPr>
                      </a:pPr>
                      <a:r>
                        <a:t>Avg. WTP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latin typeface="Aptos"/>
                        </a:defRPr>
                      </a:pPr>
                      <a:r>
                        <a:t>Avg. Churn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300">
                          <a:latin typeface="Aptos"/>
                        </a:defRPr>
                      </a:pPr>
                      <a:r>
                        <a:t>Premium Customers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Aptos"/>
                        </a:defRPr>
                      </a:pPr>
                      <a:r>
                        <a:t>327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Aptos"/>
                        </a:defRPr>
                      </a:pPr>
                      <a:r>
                        <a:t>₹1,566.13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Aptos"/>
                        </a:defRPr>
                      </a:pPr>
                      <a:r>
                        <a:t>0.077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300">
                          <a:latin typeface="Aptos"/>
                        </a:defRPr>
                      </a:pPr>
                      <a:r>
                        <a:t>Price-Sensitive Customers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Aptos"/>
                        </a:defRPr>
                      </a:pPr>
                      <a:r>
                        <a:t>331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Aptos"/>
                        </a:defRPr>
                      </a:pPr>
                      <a:r>
                        <a:t>₹782.49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Aptos"/>
                        </a:defRPr>
                      </a:pPr>
                      <a:r>
                        <a:t>0.129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300">
                          <a:latin typeface="Aptos"/>
                        </a:defRPr>
                      </a:pPr>
                      <a:r>
                        <a:t>Value-Oriented Customers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Aptos"/>
                        </a:defRPr>
                      </a:pPr>
                      <a:r>
                        <a:t>342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Aptos"/>
                        </a:defRPr>
                      </a:pPr>
                      <a:r>
                        <a:t>₹1,488.46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Aptos"/>
                        </a:defRPr>
                      </a:pPr>
                      <a:r>
                        <a:t>0.198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" y="384048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latin typeface="Aptos"/>
              </a:defRPr>
            </a:pPr>
            <a:r>
              <a:t>• K-Means clustering uses Willingness to Pay and Churn Probability.</a:t>
            </a:r>
          </a:p>
          <a:p>
            <a:pPr>
              <a:spcAft>
                <a:spcPts val="1200"/>
              </a:spcAft>
              <a:defRPr sz="1600">
                <a:latin typeface="Aptos"/>
              </a:defRPr>
            </a:pPr>
            <a:r>
              <a:t>• Segments support differentiated interpretation of pricing sensitivity and retention characteristics.</a:t>
            </a:r>
          </a:p>
          <a:p>
            <a:pPr>
              <a:spcAft>
                <a:spcPts val="1200"/>
              </a:spcAft>
              <a:defRPr sz="1600">
                <a:latin typeface="Aptos"/>
              </a:defRPr>
            </a:pPr>
            <a:r>
              <a:t>• Results are generated from synthetic data and are not survey findings.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2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89920" y="6565392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 Display"/>
              </a:defRPr>
            </a:pPr>
            <a:r>
              <a:t>5. Pricing Simulation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22960" y="1463040"/>
          <a:ext cx="393192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1965960"/>
              </a:tblGrid>
              <a:tr h="502920">
                <a:tc>
                  <a:txBody>
                    <a:bodyPr/>
                    <a:lstStyle/>
                    <a:p>
                      <a:pPr>
                        <a:defRPr sz="1500" b="1">
                          <a:latin typeface="Aptos"/>
                        </a:defRPr>
                      </a:pPr>
                      <a:r>
                        <a:t>Scenario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latin typeface="Aptos"/>
                        </a:defRPr>
                      </a:pPr>
                      <a:r>
                        <a:t>Monthly Price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500"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>
                          <a:latin typeface="Aptos"/>
                        </a:defRPr>
                      </a:pPr>
                      <a:r>
                        <a:t>₹499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500">
                          <a:latin typeface="Aptos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>
                          <a:latin typeface="Aptos"/>
                        </a:defRPr>
                      </a:pPr>
                      <a:r>
                        <a:t>₹699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500">
                          <a:latin typeface="Aptos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>
                          <a:latin typeface="Aptos"/>
                        </a:defRPr>
                      </a:pPr>
                      <a:r>
                        <a:t>₹899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500">
                          <a:latin typeface="Aptos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>
                          <a:latin typeface="Aptos"/>
                        </a:defRPr>
                      </a:pPr>
                      <a:r>
                        <a:t>₹1,199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500">
                          <a:latin typeface="Aptos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>
                          <a:latin typeface="Aptos"/>
                        </a:defRPr>
                      </a:pPr>
                      <a:r>
                        <a:t>₹1,499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0" y="1417320"/>
            <a:ext cx="6126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latin typeface="Aptos"/>
              </a:defRPr>
            </a:pPr>
            <a:r>
              <a:t>• For each price point, the model estimates expected customers and retained customers.</a:t>
            </a:r>
          </a:p>
          <a:p>
            <a:pPr>
              <a:spcAft>
                <a:spcPts val="1200"/>
              </a:spcAft>
              <a:defRPr sz="1600">
                <a:latin typeface="Aptos"/>
              </a:defRPr>
            </a:pPr>
            <a:r>
              <a:t>• Revenue = Price × Retained Customers.</a:t>
            </a:r>
          </a:p>
          <a:p>
            <a:pPr>
              <a:spcAft>
                <a:spcPts val="1200"/>
              </a:spcAft>
              <a:defRPr sz="1600">
                <a:latin typeface="Aptos"/>
              </a:defRPr>
            </a:pPr>
            <a:r>
              <a:t>• Contribution = Revenue − Variable Cost.</a:t>
            </a:r>
          </a:p>
          <a:p>
            <a:pPr>
              <a:spcAft>
                <a:spcPts val="1200"/>
              </a:spcAft>
              <a:defRPr sz="1600">
                <a:latin typeface="Aptos"/>
              </a:defRPr>
            </a:pPr>
            <a:r>
              <a:t>• Contribution Margin % = Contribution / Revenue × 100.</a:t>
            </a:r>
          </a:p>
          <a:p>
            <a:pPr>
              <a:spcAft>
                <a:spcPts val="1200"/>
              </a:spcAft>
              <a:defRPr sz="1600">
                <a:latin typeface="Aptos"/>
              </a:defRPr>
            </a:pPr>
            <a:r>
              <a:t>• Estimated Profit = Revenue − Total Costs.</a:t>
            </a:r>
          </a:p>
          <a:p>
            <a:pPr>
              <a:spcAft>
                <a:spcPts val="1200"/>
              </a:spcAft>
              <a:defRPr sz="1600">
                <a:latin typeface="Aptos"/>
              </a:defRPr>
            </a:pPr>
            <a:r>
              <a:t>• The objective is to compare scenarios, not to claim a guaranteed optimal market price.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2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789920" y="6565392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 Display"/>
              </a:defRPr>
            </a:pPr>
            <a:r>
              <a:t>6. AI/ML Analysis &amp; Streamlit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063240"/>
            <a:ext cx="106070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latin typeface="Aptos"/>
              </a:defRPr>
            </a:pPr>
            <a:r>
              <a:t>• Linear Regression analyses adjusted customer value using WTP and churn probability.</a:t>
            </a:r>
          </a:p>
          <a:p>
            <a:pPr>
              <a:spcAft>
                <a:spcPts val="1200"/>
              </a:spcAft>
              <a:defRPr sz="1600">
                <a:latin typeface="Aptos"/>
              </a:defRPr>
            </a:pPr>
            <a:r>
              <a:t>• Adjusted Value = WTP × (1 − Churn Probability).</a:t>
            </a:r>
          </a:p>
          <a:p>
            <a:pPr>
              <a:spcAft>
                <a:spcPts val="1200"/>
              </a:spcAft>
              <a:defRPr sz="1600">
                <a:latin typeface="Aptos"/>
              </a:defRPr>
            </a:pPr>
            <a:r>
              <a:t>• Dashboard inputs: segment, price, customers, churn, variable cost, fixed cost, marketing cost and discount.</a:t>
            </a:r>
          </a:p>
          <a:p>
            <a:pPr>
              <a:spcAft>
                <a:spcPts val="1200"/>
              </a:spcAft>
              <a:defRPr sz="1600">
                <a:latin typeface="Aptos"/>
              </a:defRPr>
            </a:pPr>
            <a:r>
              <a:t>• Dashboard outputs: revenue, contribution margin, profit, CAC, LTV, LTV:CAC, CAC payback and pricing recommendation.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2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789920" y="6565392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 Display"/>
              </a:defRPr>
            </a:pPr>
            <a:r>
              <a:t>7. Customer Acquisition &amp; Unit Economics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85800" y="1417320"/>
          <a:ext cx="1088136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472440">
                <a:tc>
                  <a:txBody>
                    <a:bodyPr/>
                    <a:lstStyle/>
                    <a:p>
                      <a:pPr>
                        <a:defRPr sz="1200" b="1">
                          <a:latin typeface="Aptos"/>
                        </a:defRPr>
                      </a:pPr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latin typeface="Aptos"/>
                        </a:defRPr>
                      </a:pPr>
                      <a:r>
                        <a:t>Formula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latin typeface="Aptos"/>
                        </a:defRPr>
                      </a:pPr>
                      <a:r>
                        <a:t>Purpose</a:t>
                      </a:r>
                    </a:p>
                  </a:txBody>
                  <a:tcPr/>
                </a:tc>
              </a:tr>
              <a:tr h="472440">
                <a:tc>
                  <a:txBody>
                    <a:bodyPr/>
                    <a:lstStyle/>
                    <a:p>
                      <a:pPr>
                        <a:defRPr sz="1200">
                          <a:latin typeface="Aptos"/>
                        </a:defRPr>
                      </a:pPr>
                      <a:r>
                        <a:t>CAC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ptos"/>
                        </a:defRPr>
                      </a:pPr>
                      <a:r>
                        <a:t>Marketing Spend / Expected Customers Acquired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ptos"/>
                        </a:defRPr>
                      </a:pPr>
                      <a:r>
                        <a:t>Acquisition efficiency</a:t>
                      </a:r>
                    </a:p>
                  </a:txBody>
                  <a:tcPr/>
                </a:tc>
              </a:tr>
              <a:tr h="472440">
                <a:tc>
                  <a:txBody>
                    <a:bodyPr/>
                    <a:lstStyle/>
                    <a:p>
                      <a:pPr>
                        <a:defRPr sz="1200">
                          <a:latin typeface="Aptos"/>
                        </a:defRPr>
                      </a:pPr>
                      <a:r>
                        <a:t>Customer Lifetime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ptos"/>
                        </a:defRPr>
                      </a:pPr>
                      <a:r>
                        <a:t>1 / Monthly Churn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ptos"/>
                        </a:defRPr>
                      </a:pPr>
                      <a:r>
                        <a:t>Retention-based lifetime</a:t>
                      </a:r>
                    </a:p>
                  </a:txBody>
                  <a:tcPr/>
                </a:tc>
              </a:tr>
              <a:tr h="472440">
                <a:tc>
                  <a:txBody>
                    <a:bodyPr/>
                    <a:lstStyle/>
                    <a:p>
                      <a:pPr>
                        <a:defRPr sz="1200">
                          <a:latin typeface="Aptos"/>
                        </a:defRPr>
                      </a:pPr>
                      <a:r>
                        <a:t>LTV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ptos"/>
                        </a:defRPr>
                      </a:pPr>
                      <a:r>
                        <a:t>Contribution per Customer × Lifetime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ptos"/>
                        </a:defRPr>
                      </a:pPr>
                      <a:r>
                        <a:t>Customer economic value</a:t>
                      </a:r>
                    </a:p>
                  </a:txBody>
                  <a:tcPr/>
                </a:tc>
              </a:tr>
              <a:tr h="472440">
                <a:tc>
                  <a:txBody>
                    <a:bodyPr/>
                    <a:lstStyle/>
                    <a:p>
                      <a:pPr>
                        <a:defRPr sz="1200">
                          <a:latin typeface="Aptos"/>
                        </a:defRPr>
                      </a:pPr>
                      <a:r>
                        <a:t>LTV:CAC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ptos"/>
                        </a:defRPr>
                      </a:pPr>
                      <a:r>
                        <a:t>LTV / CAC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ptos"/>
                        </a:defRPr>
                      </a:pPr>
                      <a:r>
                        <a:t>Value vs. acquisition cost</a:t>
                      </a:r>
                    </a:p>
                  </a:txBody>
                  <a:tcPr/>
                </a:tc>
              </a:tr>
              <a:tr h="472440">
                <a:tc>
                  <a:txBody>
                    <a:bodyPr/>
                    <a:lstStyle/>
                    <a:p>
                      <a:pPr>
                        <a:defRPr sz="1200">
                          <a:latin typeface="Aptos"/>
                        </a:defRPr>
                      </a:pPr>
                      <a:r>
                        <a:t>CAC Payback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ptos"/>
                        </a:defRPr>
                      </a:pPr>
                      <a:r>
                        <a:t>CAC / Contribution per Customer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ptos"/>
                        </a:defRPr>
                      </a:pPr>
                      <a:r>
                        <a:t>Time to recover CAC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22960" y="4572000"/>
            <a:ext cx="10424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latin typeface="Aptos"/>
              </a:defRPr>
            </a:pPr>
            <a:r>
              <a:t>• Testing uses a simulated marketing spend of ₹50,000 per month.</a:t>
            </a:r>
          </a:p>
          <a:p>
            <a:pPr>
              <a:spcAft>
                <a:spcPts val="1200"/>
              </a:spcAft>
              <a:defRPr sz="1500">
                <a:latin typeface="Aptos"/>
              </a:defRPr>
            </a:pPr>
            <a:r>
              <a:t>• Unit economics add a customer-acquisition perspective beyond revenue alone.</a:t>
            </a:r>
          </a:p>
          <a:p>
            <a:pPr>
              <a:spcAft>
                <a:spcPts val="1200"/>
              </a:spcAft>
              <a:defRPr sz="1500">
                <a:latin typeface="Aptos"/>
              </a:defRPr>
            </a:pPr>
            <a:r>
              <a:t>• These calculations are simplified management simulations and require real data for validation.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2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789920" y="6565392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 Display"/>
              </a:defRPr>
            </a:pPr>
            <a:r>
              <a:t>8. Testing, Benchmarking &amp;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latin typeface="Aptos"/>
              </a:defRPr>
            </a:pPr>
            <a:r>
              <a:t>• Five pricing scenarios were tested: ₹499, ₹699, ₹899, ₹1,199 and ₹1,499.</a:t>
            </a:r>
          </a:p>
          <a:p>
            <a:pPr>
              <a:spcAft>
                <a:spcPts val="1200"/>
              </a:spcAft>
              <a:defRPr sz="1600">
                <a:latin typeface="Aptos"/>
              </a:defRPr>
            </a:pPr>
            <a:r>
              <a:t>• Testing incorporates demand assumptions, churn, marketing spend, CAC, LTV, LTV:CAC, CAC payback and estimated profit.</a:t>
            </a:r>
          </a:p>
          <a:p>
            <a:pPr>
              <a:spcAft>
                <a:spcPts val="1200"/>
              </a:spcAft>
              <a:defRPr sz="1600">
                <a:latin typeface="Aptos"/>
              </a:defRPr>
            </a:pPr>
            <a:r>
              <a:t>• External SaaS references such as Freshsales, Zoho CRM, Microsoft Power BI and Zoho Analytics are maintained separately as reference benchmarks.</a:t>
            </a:r>
          </a:p>
          <a:p>
            <a:pPr>
              <a:spcAft>
                <a:spcPts val="1200"/>
              </a:spcAft>
              <a:defRPr sz="1600">
                <a:latin typeface="Aptos"/>
              </a:defRPr>
            </a:pPr>
            <a:r>
              <a:t>• Pricing benchmarks are contextual references, not direct competitor claims.</a:t>
            </a:r>
          </a:p>
          <a:p>
            <a:pPr>
              <a:spcAft>
                <a:spcPts val="1200"/>
              </a:spcAft>
              <a:defRPr sz="1600">
                <a:latin typeface="Aptos"/>
              </a:defRPr>
            </a:pPr>
            <a:r>
              <a:t>• Key finding: a higher price does not automatically imply better overall economics because demand, churn and acquisition costs also matter.</a:t>
            </a:r>
          </a:p>
          <a:p>
            <a:pPr>
              <a:spcAft>
                <a:spcPts val="1200"/>
              </a:spcAft>
              <a:defRPr sz="1600">
                <a:latin typeface="Aptos"/>
              </a:defRPr>
            </a:pPr>
            <a:r>
              <a:t>• Final recommendation should be treated as a RECOMMENDED PRICE TO TEST, followed by real-world validation.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2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89920" y="6565392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 Display"/>
              </a:defRPr>
            </a:pPr>
            <a:r>
              <a:t>9. Conclusion &amp; Future Enhancements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latin typeface="Aptos"/>
              </a:defRPr>
            </a:pPr>
            <a:r>
              <a:t>• The project demonstrates an end-to-end framework for startup pricing experimentation.</a:t>
            </a:r>
          </a:p>
          <a:p>
            <a:pPr>
              <a:spcAft>
                <a:spcPts val="1200"/>
              </a:spcAft>
              <a:defRPr sz="1600">
                <a:latin typeface="Aptos"/>
              </a:defRPr>
            </a:pPr>
            <a:r>
              <a:t>• Customer segmentation, pricing simulation, machine learning and unit economics are combined in one decision-support workflow.</a:t>
            </a:r>
          </a:p>
          <a:p>
            <a:pPr>
              <a:spcAft>
                <a:spcPts val="1200"/>
              </a:spcAft>
              <a:defRPr sz="1600">
                <a:latin typeface="Aptos"/>
              </a:defRPr>
            </a:pPr>
            <a:r>
              <a:t>• The Streamlit dashboard makes pricing assumptions interactive and easier to evaluate.</a:t>
            </a:r>
          </a:p>
          <a:p>
            <a:pPr>
              <a:spcAft>
                <a:spcPts val="1200"/>
              </a:spcAft>
              <a:defRPr sz="1600">
                <a:latin typeface="Aptos"/>
              </a:defRPr>
            </a:pPr>
            <a:r>
              <a:t>• Future enhancements: real customer data, price elasticity, advanced demand forecasting, dynamic pricing, real-time competitor monitoring, advanced LTV modelling, A/B testing and cloud deployment.</a:t>
            </a:r>
          </a:p>
          <a:p>
            <a:pPr>
              <a:spcAft>
                <a:spcPts val="1200"/>
              </a:spcAft>
              <a:defRPr sz="1600">
                <a:latin typeface="Aptos"/>
              </a:defRPr>
            </a:pPr>
            <a:r>
              <a:t>• Most importantly, the simulator supports a price-to-test decision; actual pricing requires customer research and market evidence.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53212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BizPilot AI • Smart Pricing Strategy Simulator for Startups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D2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789920" y="6565392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810</Words>
  <Application>Microsoft Macintosh PowerPoint</Application>
  <PresentationFormat>Custom</PresentationFormat>
  <Paragraphs>110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Manager/>
  <Company/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subject/>
  <dc:creator/>
  <cp:keywords/>
  <dc:description>generated using python-pptx</dc:description>
  <cp:lastModifiedBy>Swe</cp:lastModifiedBy>
  <cp:revision>2</cp:revision>
  <dcterms:created xsi:type="dcterms:W3CDTF">2013-01-27T09:14:16Z</dcterms:created>
  <dcterms:modified xsi:type="dcterms:W3CDTF">2026-10-05T12:39:34Z</dcterms:modified>
  <cp:category/>
</cp:coreProperties>
</file>